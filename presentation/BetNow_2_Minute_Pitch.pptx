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wide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3600" b="1">
                <a:solidFill>
                  <a:srgbClr val="111827"/>
                </a:solidFill>
              </a:rPr>
              <a:t>BetNow</a:t>
            </a:r>
            <a:endParaRPr lang="en-US" sz="3600"/>
          </a:p>
        </p:txBody>
      </p:sp>
      <p:sp>
        <p:nvSpPr>
          <p:cNvPr id="5" name="Subtitle"/>
          <p:cNvSpPr txBox="1"/>
          <p:nvPr/>
        </p:nvSpPr>
        <p:spPr>
          <a:xfrm>
            <a:off x="713232" y="12344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1800" b="0">
                <a:solidFill>
                  <a:srgbClr val="4B5563"/>
                </a:solidFill>
              </a:rPr>
              <a:t>A native Android app for prediction markets</a:t>
            </a:r>
            <a:endParaRPr lang="en-US" sz="1800"/>
          </a:p>
        </p:txBody>
      </p:sp>
      <p:sp>
        <p:nvSpPr>
          <p:cNvPr id="6" name="Bullets"/>
          <p:cNvSpPr txBox="1"/>
          <p:nvPr/>
        </p:nvSpPr>
        <p:spPr>
          <a:xfrm>
            <a:off x="914400" y="1965960"/>
            <a:ext cx="996696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Create an account</a:t>
            </a:r>
            <a:endParaRPr lang="en-US" sz="2500"/>
          </a:p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Browse live YES/NO markets</a:t>
            </a:r>
            <a:endParaRPr lang="en-US" sz="2500"/>
          </a:p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Place bets and track results</a:t>
            </a:r>
            <a:endParaRPr lang="en-US" sz="2500"/>
          </a:p>
        </p:txBody>
      </p:sp>
      <p:sp>
        <p:nvSpPr>
          <p:cNvPr id="7" name="Cue box"/>
          <p:cNvSpPr/>
          <p:nvPr/>
        </p:nvSpPr>
        <p:spPr>
          <a:xfrm>
            <a:off x="713232" y="5321808"/>
            <a:ext cx="10698480" cy="6858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8" name="Speaker cue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1400" b="0">
                <a:solidFill>
                  <a:srgbClr val="374151"/>
                </a:solidFill>
              </a:rPr>
              <a:t>Say: BetNow turns prediction markets into a simple mobile flow: discover, decide, bet, and track.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3600" b="1">
                <a:solidFill>
                  <a:srgbClr val="111827"/>
                </a:solidFill>
              </a:rPr>
              <a:t>The User Flow</a:t>
            </a:r>
            <a:endParaRPr lang="en-US" sz="3600"/>
          </a:p>
        </p:txBody>
      </p:sp>
      <p:sp>
        <p:nvSpPr>
          <p:cNvPr id="5" name="Subtitle"/>
          <p:cNvSpPr txBox="1"/>
          <p:nvPr/>
        </p:nvSpPr>
        <p:spPr>
          <a:xfrm>
            <a:off x="713232" y="12344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1800" b="0">
                <a:solidFill>
                  <a:srgbClr val="4B5563"/>
                </a:solidFill>
              </a:rPr>
              <a:t>One complete path from login to portfolio</a:t>
            </a:r>
            <a:endParaRPr lang="en-US" sz="1800"/>
          </a:p>
        </p:txBody>
      </p:sp>
      <p:sp>
        <p:nvSpPr>
          <p:cNvPr id="6" name="Bullets"/>
          <p:cNvSpPr txBox="1"/>
          <p:nvPr/>
        </p:nvSpPr>
        <p:spPr>
          <a:xfrm>
            <a:off x="914400" y="1965960"/>
            <a:ext cx="996696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Search, filter, and sort markets</a:t>
            </a:r>
            <a:endParaRPr lang="en-US" sz="2500"/>
          </a:p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Open details and preview shares</a:t>
            </a:r>
            <a:endParaRPr lang="en-US" sz="2500"/>
          </a:p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Watchlist, My Bets, Profile, Leaderboard</a:t>
            </a:r>
            <a:endParaRPr lang="en-US" sz="2500"/>
          </a:p>
        </p:txBody>
      </p:sp>
      <p:sp>
        <p:nvSpPr>
          <p:cNvPr id="7" name="Cue box"/>
          <p:cNvSpPr/>
          <p:nvPr/>
        </p:nvSpPr>
        <p:spPr>
          <a:xfrm>
            <a:off x="713232" y="5321808"/>
            <a:ext cx="10698480" cy="6858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8" name="Speaker cue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1400" b="0">
                <a:solidFill>
                  <a:srgbClr val="374151"/>
                </a:solidFill>
              </a:rPr>
              <a:t>Say: The app is not just one betting screen; it covers the full user journey around a market.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3600" b="1">
                <a:solidFill>
                  <a:srgbClr val="111827"/>
                </a:solidFill>
              </a:rPr>
              <a:t>How It Works</a:t>
            </a:r>
            <a:endParaRPr lang="en-US" sz="3600"/>
          </a:p>
        </p:txBody>
      </p:sp>
      <p:sp>
        <p:nvSpPr>
          <p:cNvPr id="5" name="Subtitle"/>
          <p:cNvSpPr txBox="1"/>
          <p:nvPr/>
        </p:nvSpPr>
        <p:spPr>
          <a:xfrm>
            <a:off x="713232" y="12344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1800" b="0">
                <a:solidFill>
                  <a:srgbClr val="4B5563"/>
                </a:solidFill>
              </a:rPr>
              <a:t>Fragment -&gt; ViewModel -&gt; Repository -&gt; Retrofit/Socket -&gt; Backend</a:t>
            </a:r>
            <a:endParaRPr lang="en-US" sz="1800"/>
          </a:p>
        </p:txBody>
      </p:sp>
      <p:sp>
        <p:nvSpPr>
          <p:cNvPr id="6" name="Bullets"/>
          <p:cNvSpPr txBox="1"/>
          <p:nvPr/>
        </p:nvSpPr>
        <p:spPr>
          <a:xfrm>
            <a:off x="914400" y="1965960"/>
            <a:ext cx="996696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Kotlin, XML, Material UI, LiveData</a:t>
            </a:r>
            <a:endParaRPr lang="en-US" sz="2500"/>
          </a:p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RecyclerView, DiffUtil, Glide</a:t>
            </a:r>
            <a:endParaRPr lang="en-US" sz="2500"/>
          </a:p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Express backend, JWT, Socket.io</a:t>
            </a:r>
            <a:endParaRPr lang="en-US" sz="2500"/>
          </a:p>
        </p:txBody>
      </p:sp>
      <p:sp>
        <p:nvSpPr>
          <p:cNvPr id="7" name="Cue box"/>
          <p:cNvSpPr/>
          <p:nvPr/>
        </p:nvSpPr>
        <p:spPr>
          <a:xfrm>
            <a:off x="713232" y="5321808"/>
            <a:ext cx="10698480" cy="6858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8" name="Speaker cue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1400" b="0">
                <a:solidFill>
                  <a:srgbClr val="374151"/>
                </a:solidFill>
              </a:rPr>
              <a:t>Say: We separated UI, state, data access, and backend logic so the code is easier to explain and maintain.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85800" y="50292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3600" b="1">
                <a:solidFill>
                  <a:srgbClr val="111827"/>
                </a:solidFill>
              </a:rPr>
              <a:t>Why It Matters</a:t>
            </a:r>
            <a:endParaRPr lang="en-US" sz="3600"/>
          </a:p>
        </p:txBody>
      </p:sp>
      <p:sp>
        <p:nvSpPr>
          <p:cNvPr id="5" name="Subtitle"/>
          <p:cNvSpPr txBox="1"/>
          <p:nvPr/>
        </p:nvSpPr>
        <p:spPr>
          <a:xfrm>
            <a:off x="713232" y="123444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1800" b="0">
                <a:solidFill>
                  <a:srgbClr val="4B5563"/>
                </a:solidFill>
              </a:rPr>
              <a:t>A real mobile-development course project</a:t>
            </a:r>
            <a:endParaRPr lang="en-US" sz="1800"/>
          </a:p>
        </p:txBody>
      </p:sp>
      <p:sp>
        <p:nvSpPr>
          <p:cNvPr id="6" name="Bullets"/>
          <p:cNvSpPr txBox="1"/>
          <p:nvPr/>
        </p:nvSpPr>
        <p:spPr>
          <a:xfrm>
            <a:off x="914400" y="1965960"/>
            <a:ext cx="996696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Lifecycle-aware screens and sockets</a:t>
            </a:r>
            <a:endParaRPr lang="en-US" sz="2500"/>
          </a:p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Loading, error, and empty states</a:t>
            </a:r>
            <a:endParaRPr lang="en-US" sz="2500"/>
          </a:p>
          <a:p>
            <a:pPr algn="l" spcAft="5000"/>
            <a:r>
              <a:rPr lang="en-US" sz="2500" b="0">
                <a:solidFill>
                  <a:srgbClr val="111827"/>
                </a:solidFill>
              </a:rPr>
              <a:t>- Demo: login -&gt; markets -&gt; detail -&gt; bet</a:t>
            </a:r>
            <a:endParaRPr lang="en-US" sz="2500"/>
          </a:p>
        </p:txBody>
      </p:sp>
      <p:sp>
        <p:nvSpPr>
          <p:cNvPr id="7" name="Cue box"/>
          <p:cNvSpPr/>
          <p:nvPr/>
        </p:nvSpPr>
        <p:spPr>
          <a:xfrm>
            <a:off x="713232" y="5321808"/>
            <a:ext cx="10698480" cy="68580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8" name="Speaker cue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spcAft="0"/>
            <a:r>
              <a:rPr lang="en-US" sz="1400" b="0">
                <a:solidFill>
                  <a:srgbClr val="374151"/>
                </a:solidFill>
              </a:rPr>
              <a:t>Say: The value is that it demonstrates practical Android architecture, not only a static interface.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Now">
  <a:themeElements>
    <a:clrScheme name="BetNow">
      <a:dk1>
        <a:srgbClr val="111827"/>
      </a:dk1>
      <a:lt1>
        <a:srgbClr val="F8FAFC"/>
      </a:lt1>
      <a:dk2>
        <a:srgbClr val="1F2937"/>
      </a:dk2>
      <a:lt2>
        <a:srgbClr val="E5E7EB"/>
      </a:lt2>
      <a:accent1>
        <a:srgbClr val="10B981"/>
      </a:accent1>
      <a:accent2>
        <a:srgbClr val="2563EB"/>
      </a:accent2>
      <a:accent3>
        <a:srgbClr val="F59E0B"/>
      </a:accent3>
      <a:accent4>
        <a:srgbClr val="EF4444"/>
      </a:accent4>
      <a:accent5>
        <a:srgbClr val="14B8A6"/>
      </a:accent5>
      <a:accent6>
        <a:srgbClr val="64748B"/>
      </a:accent6>
      <a:hlink>
        <a:srgbClr val="2563EB"/>
      </a:hlink>
      <a:folHlink>
        <a:srgbClr val="7C3AED"/>
      </a:folHlink>
    </a:clrScheme>
    <a:fontScheme name="BetNow">
      <a:majorFont>
        <a:latin typeface="Aptos Display"/>
      </a:majorFont>
      <a:minorFont>
        <a:latin typeface="Aptos"/>
      </a:minorFont>
    </a:fontScheme>
    <a:fmtScheme name="BetNow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